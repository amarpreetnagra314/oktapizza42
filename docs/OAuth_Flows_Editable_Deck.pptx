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3F3F7"/>
          </a:solidFill>
          <a:ln>
            <a:solidFill>
              <a:srgbClr val="F3F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0" y="50292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232A34"/>
                </a:solidFill>
              </a:defRPr>
            </a:pPr>
            <a:r>
              <a:t>OAuth Flows We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40680" y="109728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5A64"/>
                </a:solidFill>
              </a:defRPr>
            </a:pPr>
            <a:r>
              <a:t>Each OAuth flow was selected intentionally based on the application's security model and responsibility.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1828800"/>
            <a:ext cx="685800" cy="685800"/>
          </a:xfrm>
          <a:prstGeom prst="ellipse">
            <a:avLst/>
          </a:prstGeom>
          <a:noFill/>
          <a:ln w="19050">
            <a:solidFill>
              <a:srgbClr val="B4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3840480"/>
            <a:ext cx="685800" cy="685800"/>
          </a:xfrm>
          <a:prstGeom prst="ellipse">
            <a:avLst/>
          </a:prstGeom>
          <a:noFill/>
          <a:ln w="19050">
            <a:solidFill>
              <a:srgbClr val="B4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834640" y="3840480"/>
            <a:ext cx="685800" cy="685800"/>
          </a:xfrm>
          <a:prstGeom prst="ellipse">
            <a:avLst/>
          </a:prstGeom>
          <a:noFill/>
          <a:ln w="19050">
            <a:solidFill>
              <a:srgbClr val="B4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37360" y="5029200"/>
            <a:ext cx="685800" cy="685800"/>
          </a:xfrm>
          <a:prstGeom prst="ellipse">
            <a:avLst/>
          </a:prstGeom>
          <a:noFill/>
          <a:ln w="19050">
            <a:solidFill>
              <a:srgbClr val="B4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10800000">
            <a:off x="1097280" y="1554480"/>
            <a:ext cx="1828800" cy="2743200"/>
          </a:xfrm>
          <a:prstGeom prst="triangle">
            <a:avLst/>
          </a:prstGeom>
          <a:noFill/>
          <a:ln w="25400">
            <a:solidFill>
              <a:srgbClr val="3C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05840" y="4160520"/>
            <a:ext cx="548640" cy="0"/>
          </a:xfrm>
          <a:prstGeom prst="line">
            <a:avLst/>
          </a:prstGeom>
          <a:ln w="19050">
            <a:solidFill>
              <a:srgbClr val="AA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31720" y="4160520"/>
            <a:ext cx="502920" cy="0"/>
          </a:xfrm>
          <a:prstGeom prst="line">
            <a:avLst/>
          </a:prstGeom>
          <a:ln w="19050">
            <a:solidFill>
              <a:srgbClr val="AA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11680" y="2514600"/>
            <a:ext cx="0" cy="2148840"/>
          </a:xfrm>
          <a:prstGeom prst="line">
            <a:avLst/>
          </a:prstGeom>
          <a:ln w="19050">
            <a:solidFill>
              <a:srgbClr val="AAAA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40680" y="1737360"/>
            <a:ext cx="457200" cy="457200"/>
          </a:xfrm>
          <a:prstGeom prst="ellipse">
            <a:avLst/>
          </a:prstGeom>
          <a:solidFill>
            <a:srgbClr val="F5F5F8"/>
          </a:solidFill>
          <a:ln>
            <a:solidFill>
              <a:srgbClr val="46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71907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</a:defRPr>
            </a:pPr>
            <a:r>
              <a:t>Authorization Code + PKCE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05740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14148"/>
                </a:solidFill>
              </a:defRPr>
            </a:pPr>
            <a:r>
              <a:t>Used by the React SPA for customer authentication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Secure for browser-based public clients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Prevents authorization code interception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Current OAuth 2.1 / IETF best practice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2971800"/>
            <a:ext cx="457200" cy="457200"/>
          </a:xfrm>
          <a:prstGeom prst="ellipse">
            <a:avLst/>
          </a:prstGeom>
          <a:solidFill>
            <a:srgbClr val="F5F5F8"/>
          </a:solidFill>
          <a:ln>
            <a:solidFill>
              <a:srgbClr val="3CA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95351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</a:defRPr>
            </a:pPr>
            <a:r>
              <a:t>Client Credentials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29184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14148"/>
                </a:solidFill>
              </a:defRPr>
            </a:pPr>
            <a:r>
              <a:t>Used by the backend (M2M app) to call Auth0 Management API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No user context required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Secure server-to-server communication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Credentials remain isolated on the server</a:t>
            </a:r>
          </a:p>
        </p:txBody>
      </p:sp>
      <p:sp>
        <p:nvSpPr>
          <p:cNvPr id="19" name="Oval 18"/>
          <p:cNvSpPr/>
          <p:nvPr/>
        </p:nvSpPr>
        <p:spPr>
          <a:xfrm>
            <a:off x="5440680" y="4206240"/>
            <a:ext cx="457200" cy="457200"/>
          </a:xfrm>
          <a:prstGeom prst="ellipse">
            <a:avLst/>
          </a:prstGeom>
          <a:solidFill>
            <a:srgbClr val="F5F5F8"/>
          </a:solidFill>
          <a:ln>
            <a:solidFill>
              <a:srgbClr val="8C5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18795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2A34"/>
                </a:solidFill>
              </a:defRPr>
            </a:pPr>
            <a:r>
              <a:t>Refresh Token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526279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14148"/>
                </a:solidFill>
              </a:defRPr>
            </a:pPr>
            <a:r>
              <a:t>Used by the SPA for silent session renewal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Works reliably across modern browsers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Avoids third-party cookie limitations</a:t>
            </a:r>
          </a:p>
          <a:p>
            <a:pPr>
              <a:defRPr sz="1100">
                <a:solidFill>
                  <a:srgbClr val="414148"/>
                </a:solidFill>
              </a:defRPr>
            </a:pPr>
            <a:r>
              <a:t>Rotation + reuse detection improves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5532120"/>
            <a:ext cx="6126480" cy="822960"/>
          </a:xfrm>
          <a:prstGeom prst="roundRect">
            <a:avLst/>
          </a:prstGeom>
          <a:solidFill>
            <a:srgbClr val="FCF5F5"/>
          </a:solidFill>
          <a:ln>
            <a:solidFill>
              <a:srgbClr val="EB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56692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C503C"/>
                </a:solidFill>
              </a:defRPr>
            </a:pPr>
            <a:r>
              <a:t>Flows Intentionally Rejected</a:t>
            </a:r>
          </a:p>
          <a:p>
            <a:pPr>
              <a:defRPr sz="1000">
                <a:solidFill>
                  <a:srgbClr val="5A5A5F"/>
                </a:solidFill>
              </a:defRPr>
            </a:pPr>
            <a:r>
              <a:t>Implicit Flow • ROPC • Authorization Code without PKCE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